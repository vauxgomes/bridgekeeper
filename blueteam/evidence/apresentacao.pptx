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0"/>
            <a:ext cx="100584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Segoe UI"/>
              </a:rPr>
              <a:t>Incidente INC-2024-001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93C5FD"/>
                </a:solidFill>
                <a:latin typeface="Segoe UI"/>
              </a:rPr>
              <a:t>Exploração de BOLA na rota GET /orders/:id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94A3B8"/>
                </a:solidFill>
                <a:latin typeface="Segoe UI"/>
              </a:rPr>
              <a:t>Relatório do Blue Team</a:t>
            </a:r>
          </a:p>
          <a:p>
            <a:pPr>
              <a:spcBef>
                <a:spcPts val="3400"/>
              </a:spcBef>
            </a:pPr>
            <a:r>
              <a:rPr sz="1500" b="1" i="0">
                <a:solidFill>
                  <a:srgbClr val="E2E8F0"/>
                </a:solidFill>
                <a:latin typeface="Segoe UI"/>
              </a:rPr>
              <a:t>Flávio   ·   Anderson   ·   Kaio   ·   Paula   ·   Erick   ·   Alan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F172A"/>
                </a:solidFill>
                <a:latin typeface="Segoe UI"/>
              </a:rPr>
              <a:t>1 bloco por pessoa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72184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25344"/>
            <a:ext cx="969264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</a:pPr>
            <a:r>
              <a:rPr sz="1450" b="1" i="0" dirty="0">
                <a:latin typeface="Segoe UI"/>
              </a:rPr>
              <a:t>OWASP API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00584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313432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66592"/>
            <a:ext cx="969264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</a:pPr>
            <a:r>
              <a:rPr sz="1450" b="1" i="0" dirty="0">
                <a:latin typeface="Segoe UI"/>
              </a:rPr>
              <a:t>BOLA — Broken Object Level Authorization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90088"/>
            <a:ext cx="100584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07840"/>
            <a:ext cx="969264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</a:pPr>
            <a:r>
              <a:rPr sz="1450" b="1" i="0" dirty="0">
                <a:latin typeface="Segoe UI"/>
              </a:rPr>
              <a:t>Log </a:t>
            </a:r>
            <a:r>
              <a:rPr sz="1450" b="1" i="0" dirty="0" err="1">
                <a:latin typeface="Segoe UI"/>
              </a:rPr>
              <a:t>estruturado</a:t>
            </a:r>
            <a:r>
              <a:rPr sz="1450" b="1" i="0" dirty="0">
                <a:latin typeface="Segoe UI"/>
              </a:rPr>
              <a:t> e </a:t>
            </a:r>
            <a:r>
              <a:rPr sz="1450" b="1" i="0" dirty="0" err="1">
                <a:latin typeface="Segoe UI"/>
              </a:rPr>
              <a:t>observabilidade</a:t>
            </a:r>
            <a:endParaRPr sz="1450" b="1" i="0" dirty="0">
              <a:latin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3831336"/>
            <a:ext cx="100584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995928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49088"/>
            <a:ext cx="969264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</a:pPr>
            <a:r>
              <a:rPr sz="1450" b="1" i="0" dirty="0">
                <a:latin typeface="Segoe UI"/>
              </a:rPr>
              <a:t>MTTD — Mean Time to Detect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72584"/>
            <a:ext cx="100584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4837176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90336"/>
            <a:ext cx="969264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</a:pPr>
            <a:r>
              <a:rPr sz="1450" b="1" i="0" dirty="0">
                <a:latin typeface="Segoe UI"/>
              </a:rPr>
              <a:t>LGPD — </a:t>
            </a:r>
            <a:r>
              <a:rPr sz="1450" b="1" i="0" dirty="0" err="1">
                <a:latin typeface="Segoe UI"/>
              </a:rPr>
              <a:t>obrigações</a:t>
            </a:r>
            <a:r>
              <a:rPr sz="1450" b="1" i="0" dirty="0">
                <a:latin typeface="Segoe UI"/>
              </a:rPr>
              <a:t> </a:t>
            </a:r>
            <a:r>
              <a:rPr sz="1450" b="1" i="0" dirty="0" err="1">
                <a:latin typeface="Segoe UI"/>
              </a:rPr>
              <a:t>legais</a:t>
            </a:r>
            <a:endParaRPr sz="1450" b="1" i="0" dirty="0">
              <a:latin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1520" y="5513832"/>
            <a:ext cx="100584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5678424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831584"/>
            <a:ext cx="969264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 dirty="0">
                <a:latin typeface="Segoe UI"/>
              </a:rPr>
              <a:t>Frameworks de </a:t>
            </a:r>
            <a:r>
              <a:rPr sz="1450" b="1" i="0" dirty="0" err="1">
                <a:latin typeface="Segoe UI"/>
              </a:rPr>
              <a:t>governança</a:t>
            </a:r>
            <a:r>
              <a:rPr sz="1450" b="1" i="0" dirty="0">
                <a:latin typeface="Segoe UI"/>
              </a:rPr>
              <a:t> e </a:t>
            </a:r>
            <a:r>
              <a:rPr sz="1450" b="1" i="0" dirty="0" err="1">
                <a:latin typeface="Segoe UI"/>
              </a:rPr>
              <a:t>conclusão</a:t>
            </a:r>
            <a:endParaRPr sz="1450" b="1" i="0" dirty="0"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0" y="0"/>
            <a:ext cx="585216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0" b="1" i="0">
                <a:solidFill>
                  <a:srgbClr val="131D33"/>
                </a:solidFill>
                <a:latin typeface="Segoe UI"/>
              </a:rP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651760"/>
            <a:ext cx="914400" cy="9144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60604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OWASP API Top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1 · OWASP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 que 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4F46E5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Lista, mantida pela comunidade OWASP, dos 10 riscos de segurança mais críticos e comuns especificamente em APIs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4F46E5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Diferente do OWASP Top 10 "geral" (focado em aplicações web)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4F46E5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Serve como linguagem comum entre time técnico e gestão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4F46E5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Classifica o risco numa categoria reconhecida pelo mercado, auditores e órgãos reguladores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1 · OWASP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Por que importa para este incidente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4F46E5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O risco nº 1 da lista (API1:2023) é exatamente BOLA — Broken Object Level Authorization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4F46E5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Usar essa classificação comunica severidade e categoria do risco a qualquer stakeholder sem que precisem entender o código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4F46E5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Conecta o achado técnico do Red Team a um padrão de risco reconhecido internacionalmente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4F46E5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Importa para relatórios de compliance e comunicação com a ANPD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0" y="0"/>
            <a:ext cx="585216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0" b="1" i="0">
                <a:solidFill>
                  <a:srgbClr val="131D33"/>
                </a:solidFill>
                <a:latin typeface="Segoe U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651760"/>
            <a:ext cx="914400" cy="9144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60604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BOLA — Broken Object Level Authorization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2 · BOLA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 que é, tecnicamente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DC262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GET /orders/3 -&gt; retorna o pedido 3, de qualquer usuário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C262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GET /orders/4 -&gt; retorna o pedido 4, de qualquer usuário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C262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api/src/routes/orders.ts busca o pedido só pelo ID da URL, sem comparar o userId do pedido com quem faz a requisição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C262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Qualquer pessoa pode trocar o número na URL e ver o pedido de outra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C262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IDs sequenciais (1, 2, 3...) tornam a falha trivialmente automatizável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2 · BOLA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Onde a falha acontece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r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858726"/>
            <a:ext cx="9692640" cy="35245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4791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Segoe UI"/>
              </a:rPr>
              <a:t>O endpoint confia no ID da URL e nunca verifica se o pedido pertence a quem fez a requisição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2 · BOLA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 impacto organizacional — dados reais do incidente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80260"/>
          <a:ext cx="9692640" cy="2103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3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Métrica</a:t>
                      </a:r>
                    </a:p>
                  </a:txBody>
                  <a:tcPr marL="128016" marR="128016" marT="36576" marB="36576" anchor="ctr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Valor observado</a:t>
                      </a:r>
                    </a:p>
                  </a:txBody>
                  <a:tcPr marL="128016" marR="128016" marT="36576" marB="36576" anchor="ctr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3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Pedidos expostos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8 de 8 (100% da base)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3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Titulares de dados afetados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5 usuários distintos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3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Requisições do atacante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600 (IP principal) + 50 (bypass)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3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Categorias de dado expostas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produto, valor, status do pedido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503420"/>
            <a:ext cx="10058400" cy="1851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DC262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Não é falha teórica: com 1 script simples, toda a base de pedidos foi lida em ~4 minutos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C262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Isso é o que vira multa e perda de confiança — não o CVE, mas o dado da pessoa real exposto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2 · BOLA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Distribuição de status HTTP no ataque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rt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327" y="1796615"/>
            <a:ext cx="6035040" cy="36488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100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Segoe UI"/>
              </a:rPr>
              <a:t>777 requisições a /orders/:id — dados reais de access-log-simulado.log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0" y="0"/>
            <a:ext cx="585216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0" b="1" i="0">
                <a:solidFill>
                  <a:srgbClr val="131D33"/>
                </a:solidFill>
                <a:latin typeface="Segoe UI"/>
              </a:rPr>
              <a:t>03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65176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60604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Log estruturado e observabilidade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3 · OBSERVABILIDADE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 que 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Log estruturado: cada evento é um objeto com campos nomeados e tipados (JSON) — time, remote_addr, uri, status...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Permite filtrar, agregar e cruzar dados automaticamente, sem parsing manual frágil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Observabilidade: entender o que acontece dentro de um sistema a partir dos seus sinais externos (logs, métricas, traces)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Sem precisar acessar o sistema diretamente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3 · OBSERVABILIDADE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Como isso resolveu o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Blue Team não teve acesso aos containers — só ao access.log do NGINX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Com um script Python de ~100 linhas foi possível: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475569"/>
                </a:solidFill>
                <a:latin typeface="Segoe UI"/>
              </a:rPr>
              <a:t>        –  </a:t>
            </a:r>
            <a:r>
              <a:rPr sz="1600" b="0" i="0">
                <a:solidFill>
                  <a:srgbClr val="475569"/>
                </a:solidFill>
                <a:latin typeface="Segoe UI"/>
              </a:rPr>
              <a:t>Identificar os 3 IPs anômalos entre centenas de requisições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475569"/>
                </a:solidFill>
                <a:latin typeface="Segoe UI"/>
              </a:rPr>
              <a:t>        –  </a:t>
            </a:r>
            <a:r>
              <a:rPr sz="1600" b="0" i="0">
                <a:solidFill>
                  <a:srgbClr val="475569"/>
                </a:solidFill>
                <a:latin typeface="Segoe UI"/>
              </a:rPr>
              <a:t>Contar quantos IDs distintos cada IP acessou (assinatura de varredura)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475569"/>
                </a:solidFill>
                <a:latin typeface="Segoe UI"/>
              </a:rPr>
              <a:t>        –  </a:t>
            </a:r>
            <a:r>
              <a:rPr sz="1600" b="0" i="0">
                <a:solidFill>
                  <a:srgbClr val="475569"/>
                </a:solidFill>
                <a:latin typeface="Segoe UI"/>
              </a:rPr>
              <a:t>Reconstruir a linha do tempo exata do ataque, hardening e bypass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475569"/>
                </a:solidFill>
                <a:latin typeface="Segoe UI"/>
              </a:rPr>
              <a:t>        –  </a:t>
            </a:r>
            <a:r>
              <a:rPr sz="1600" b="0" i="0">
                <a:solidFill>
                  <a:srgbClr val="475569"/>
                </a:solidFill>
                <a:latin typeface="Segoe UI"/>
              </a:rPr>
              <a:t>Medir o tempo de detecção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Sem log estruturado essa análise seria ordens de magnitude mais lenta ou inviável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0" y="0"/>
            <a:ext cx="585216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0" b="1" i="0">
                <a:solidFill>
                  <a:srgbClr val="131D33"/>
                </a:solidFill>
                <a:latin typeface="Segoe UI"/>
              </a:rP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651760"/>
            <a:ext cx="914400" cy="9144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60604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MTTD — Mean Time to Detect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4 · MTTD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 que é e por que é crítico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D9770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Tempo médio entre o início real de um incidente e o momento em que a equipe o detecta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9770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Conecta diretamente tempo de exposição com tamanho do dano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9770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Quanto mais um ataque passa despercebido, mais dados são expostos antes da contenção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4 · MTTD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 MTTD medido neste incidente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63140"/>
          <a:ext cx="9692639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4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Marco</a:t>
                      </a:r>
                    </a:p>
                  </a:txBody>
                  <a:tcPr marL="128016" marR="128016" marT="36576" marB="36576"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Horário (UTC)</a:t>
                      </a:r>
                    </a:p>
                  </a:txBody>
                  <a:tcPr marL="128016" marR="128016" marT="36576" marB="36576" anchor="ctr"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Início do ataque (1ª req. anômala)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14:32:00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Padrão estatisticamente claro (≥20 req/min de 1 IP)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14:32:02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Rate limiting aplicado (contenção)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14:35:15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320540"/>
            <a:ext cx="10058400" cy="20345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D9770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MTTD técnico (padrão visível no dado): ~2 segundos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9770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Ressalva: só vale com monitoramento ativo/alertas automáticos. Sem isso, o MTTD real é "quando alguém abre o log" — pode ser horas ou dias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D97706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Critério de alerta proposto no PRI: IP com ≥20 req/min em /orders/, ou razão IDs distintos / requisições ≥ 0,9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4 · MTTD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Linha do tempo do ataque (req. / 10s)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439388"/>
            <a:ext cx="9875520" cy="4363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6725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Segoe UI"/>
              </a:rPr>
              <a:t>IP 203.0.113.77 — pico antes do hardening, queda após o rate limiting às 14:35:15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0" y="0"/>
            <a:ext cx="585216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0" b="1" i="0">
                <a:solidFill>
                  <a:srgbClr val="131D33"/>
                </a:solidFill>
                <a:latin typeface="Segoe UI"/>
              </a:rPr>
              <a:t>05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65176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60604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LGPD — obrigações legais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5 ·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 que caracteriza este caso como vazamento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LGPD (Lei 13.709/2018) trata como incidente reportável qualquer evento que comprometa confidencialidade, integridade ou disponibilidade de dados pessoais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Aqui: 8 pedidos de 5 titulares foram lidos por terceiro não autorizado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Produto comprado, valor pago e status — dados pessoais e, no caso de valor, potencialmente sensíveis sob a ótica financeira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5 ·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Obrigações acionadas (Art. 48 e 52) e multa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✓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Comunicar à ANPD em até 72h do conhecimento do incidente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✓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Notificar os titulares afetados (5 usuários donos dos pedidos)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✓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Registrar em Relatório de Impacto (RIPD)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3429000"/>
          <a:ext cx="9692639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5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7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marL="128016" marR="128016" marT="36576" marB="36576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Valor (ilustrativo)</a:t>
                      </a:r>
                    </a:p>
                  </a:txBody>
                  <a:tcPr marL="128016" marR="128016" marT="36576" marB="36576"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Faturamento anual (estimado)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R$ 30.000.000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Multa máxima possível (2%, teto R$ 50M)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R$ 600.000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Custo estimado por titular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R$ 180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Custo direto estimado (5 titulares)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R$ 900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440679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O valor vazado em si é pequeno — o risco real é o teto de multa e o dano reputacional, dado que 100% da base estava acessível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0" y="0"/>
            <a:ext cx="585216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0" b="1" i="0">
                <a:solidFill>
                  <a:srgbClr val="131D33"/>
                </a:solidFill>
                <a:latin typeface="Segoe UI"/>
              </a:rPr>
              <a:t>06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65176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60604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Frameworks de governança e conclusão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6 ·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NIST CSF e ISO 27001 — por que servem de estrutura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85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NIST CSF: organiza a resposta em 5 funções — Identify, Protect, Detect, Respond, Recover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475569"/>
                </a:solidFill>
                <a:latin typeface="Segoe UI"/>
              </a:rPr>
              <a:t>        –  </a:t>
            </a:r>
            <a:r>
              <a:rPr sz="1600" b="0" i="0">
                <a:solidFill>
                  <a:srgbClr val="475569"/>
                </a:solidFill>
                <a:latin typeface="Segoe UI"/>
              </a:rPr>
              <a:t>Detect (análise do log/MTTD) -&gt; Respond (PRI, notificação) -&gt; Recover (lições aprendidas, correção do BOLA)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ISO 27001: norma de gestão de segurança da informação (SGSI) — exige processo formal e documentado de resposta a incidentes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475569"/>
                </a:solidFill>
                <a:latin typeface="Segoe UI"/>
              </a:rPr>
              <a:t>        –  </a:t>
            </a:r>
            <a:r>
              <a:rPr sz="1600" b="0" i="0">
                <a:solidFill>
                  <a:srgbClr val="475569"/>
                </a:solidFill>
                <a:latin typeface="Segoe UI"/>
              </a:rPr>
              <a:t>Exatamente o papel do PRI preenchido</a:t>
            </a:r>
          </a:p>
          <a:p>
            <a:pPr>
              <a:spcAft>
                <a:spcPts val="1400"/>
              </a:spcAft>
            </a:pPr>
            <a:r>
              <a:rPr sz="185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850" b="0" i="0">
                <a:solidFill>
                  <a:srgbClr val="0F172A"/>
                </a:solidFill>
                <a:latin typeface="Segoe UI"/>
              </a:rPr>
              <a:t>Tornam a resposta auditável e repetível, em vez de improvisada a cada incidente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75569"/>
                </a:solidFill>
                <a:latin typeface="Segoe UI"/>
              </a:rPr>
              <a:t>BLOCO 6 ·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Resumo do incidente — para a diretoria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6"/>
            <a:ext cx="502920" cy="594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9692638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6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marL="128016" marR="128016" marT="36576" marB="36576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Detalhe</a:t>
                      </a:r>
                    </a:p>
                  </a:txBody>
                  <a:tcPr marL="128016" marR="128016" marT="36576" marB="36576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Vulnerabilidade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BOLA (OWASP API1:2023) em GET /orders/:id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Janela do ataque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14:32 – 14:36 (≈ 5 min)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Dados expostos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8/8 pedidos, 5 titulares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MTTD técnico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~2s (exige alerta automático para valer na prática)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Contenção aplicada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Rate limiting (NGINX) — mitiga ~81%, não corrige a causa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Correção definitiva pendente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Ownership check no endpoint + IDs não sequenciais</a:t>
                      </a:r>
                    </a:p>
                  </a:txBody>
                  <a:tcPr marL="128016" marR="128016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172A"/>
                          </a:solidFill>
                          <a:latin typeface="Segoe UI"/>
                        </a:rPr>
                        <a:t>Exposição legal (LGPD)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F172A"/>
                          </a:solidFill>
                          <a:latin typeface="Segoe UI"/>
                        </a:rPr>
                        <a:t>Notificação à ANPD + titulares; multa potencial até R$ 600.000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0"/>
            <a:ext cx="100584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Segoe UI"/>
              </a:rPr>
              <a:t>Perguntas?</a:t>
            </a:r>
          </a:p>
          <a:p>
            <a:pPr>
              <a:spcBef>
                <a:spcPts val="2200"/>
              </a:spcBef>
            </a:pPr>
            <a:r>
              <a:rPr sz="1700" b="0" i="0">
                <a:solidFill>
                  <a:srgbClr val="94A3B8"/>
                </a:solidFill>
                <a:latin typeface="Segoe UI"/>
              </a:rPr>
              <a:t>Evidências completas em blueteam/evidence/</a:t>
            </a:r>
          </a:p>
          <a:p>
            <a:pPr>
              <a:spcBef>
                <a:spcPts val="1000"/>
              </a:spcBef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access-log-simulado.log  ·  analise_log.py  ·  pri.pdf  ·  relatorio-analise.pdf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1305</Words>
  <Application>Microsoft Office PowerPoint</Application>
  <PresentationFormat>Widescreen</PresentationFormat>
  <Paragraphs>160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Flávio Victor</cp:lastModifiedBy>
  <cp:revision>2</cp:revision>
  <dcterms:created xsi:type="dcterms:W3CDTF">2013-01-27T09:14:16Z</dcterms:created>
  <dcterms:modified xsi:type="dcterms:W3CDTF">2026-06-23T04:07:29Z</dcterms:modified>
  <cp:category/>
</cp:coreProperties>
</file>